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iriş" id="{b7c14c8f-46eb-09b0-5df1-e1938f40d0d4}">
          <p14:sldIdLst>
            <p14:sldId id="256"/>
            <p14:sldId id="257"/>
          </p14:sldIdLst>
        </p14:section>
        <p14:section name="Özellikler" id="{7806f330-f281-2b22-2655-513337da5c84}">
          <p14:sldIdLst>
            <p14:sldId id="258"/>
            <p14:sldId id="259"/>
            <p14:sldId id="260"/>
            <p14:sldId id="261"/>
            <p14:sldId id="262"/>
          </p14:sldIdLst>
        </p14:section>
        <p14:section name="Karta Aktarma" id="{950d96a2-d88c-301d-8167-93420474fc5c}">
          <p14:sldIdLst>
            <p14:sldId id="263"/>
          </p14:sldIdLst>
        </p14:section>
        <p14:section name="Kapanış" id="{184b72a6-28d5-6fb3-8992-5cd6039f9aa4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Signal Processing Toolbox: karttan gelen veriyi izleyen, üzerinde tasarım yapan ve sonucu STM32 C koduna çeviren masaüstü uygulaması.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Uygulamanın fikri: izleme, tasarım ve kod üretimi aynı pencerede. Sonraki slaytlarda her ekran hangi adıma aitse sol üstteki etiket onu gösterir.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Karttan gelen akış anında çizilir; paket hızı, kayıp ve hatalı paket üstteki kutularda görünür.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Yöntem, bant tipi ve derece seçilir; tasarım canlı akışa uygulanır ya da katsayıları dışa aktarılır.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Mahony, Madgwick, Kalman, EKF, UKF ve parçacık filtresi aynı kayıt üzerinde karşılaştırılır.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Tasarım değiştikçe kök yer eğrisi, açık çevrim Bode ve kapalı çevrim cevapları güncellenir.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DAC ile üretilecek dalga tasarlanır; nicemlenmiş çıkış ve spektrumu gösterilir.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Gönderici kütüphanesi STM32 için C99 ve MISRA C:2012'ye göre yazılmıştır; DESCRIPTOR tekrarı, bölme ve kayıp sayımı otomatiktir.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Kurulum ve kullanım için SPT-GEN-001 Sinyal İşleme Stüdyosu Kılavuzu'na bakılabilir.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a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Özellik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324612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240280"/>
            <a:ext cx="3154680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400"/>
              </a:spcAft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spcAft>
                <a:spcPts val="1400"/>
              </a:spcAft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Signal Processing Toolbox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lnız Başlık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Signal Processing Toolbox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oopOverlord1453/signal-processing-studio" TargetMode="Externa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Uygulama logos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777240"/>
            <a:ext cx="868680" cy="868680"/>
          </a:xfrm>
          <a:prstGeom prst="rect">
            <a:avLst/>
          </a:prstGeom>
        </p:spPr>
      </p:pic>
      <p:sp>
        <p:nvSpPr>
          <p:cNvPr id="3" name="Başlık"/>
          <p:cNvSpPr txBox="1"/>
          <p:nvPr/>
        </p:nvSpPr>
        <p:spPr>
          <a:xfrm>
            <a:off x="685800" y="205740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Signal Processing Toolbox</a:t>
            </a:r>
            <a:endParaRPr lang="en-US" sz="4400" dirty="0"/>
          </a:p>
        </p:txBody>
      </p:sp>
      <p:sp>
        <p:nvSpPr>
          <p:cNvPr id="4" name="Alt başlık"/>
          <p:cNvSpPr txBox="1"/>
          <p:nvPr/>
        </p:nvSpPr>
        <p:spPr>
          <a:xfrm>
            <a:off x="685800" y="3520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Sinyal İşleme Stüdyosu</a:t>
            </a:r>
            <a:endParaRPr lang="en-US" sz="2200" dirty="0"/>
          </a:p>
        </p:txBody>
      </p:sp>
      <p:sp>
        <p:nvSpPr>
          <p:cNvPr id="5" name="Slogan"/>
          <p:cNvSpPr txBox="1"/>
          <p:nvPr/>
        </p:nvSpPr>
        <p:spPr>
          <a:xfrm>
            <a:off x="685800" y="41605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D4CE"/>
                </a:solidFill>
              </a:rPr>
              <a:t>Gömülü sistemler için gerçek zamanlı sinyal analizi ve kontrol tasarımı</a:t>
            </a:r>
            <a:endParaRPr lang="en-US" sz="1600" dirty="0"/>
          </a:p>
        </p:txBody>
      </p:sp>
      <p:sp>
        <p:nvSpPr>
          <p:cNvPr id="6" name="Alt bilgi"/>
          <p:cNvSpPr txBox="1"/>
          <p:nvPr/>
        </p:nvSpPr>
        <p:spPr>
          <a:xfrm>
            <a:off x="685800" y="5989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099"/>
                </a:solidFill>
              </a:rPr>
              <a:t>STM32 · Ethernet · USB · CAN</a:t>
            </a:r>
            <a:endParaRPr lang="en-US" sz="1200" dirty="0"/>
          </a:p>
        </p:txBody>
      </p:sp>
      <p:pic>
        <p:nvPicPr>
          <p:cNvPr id="7" name="Kapak görüntüsü" descr="Canlı İzleme ekranı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234440"/>
            <a:ext cx="6766560" cy="44582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Tek pencerede üç adım</a:t>
            </a:r>
            <a:endParaRPr lang="en-US" sz="3200" dirty="0"/>
          </a:p>
        </p:txBody>
      </p:sp>
      <p:sp>
        <p:nvSpPr>
          <p:cNvPr id="3" name="Giriş metni"/>
          <p:cNvSpPr txBox="1"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Algoritma bir araçta tasarlanır, veri başka araçla izlenir, C kodu elle yazılır. Bu uygulama üçünü birleştirir.</a:t>
            </a:r>
            <a:endParaRPr lang="en-US" sz="1600" dirty="0"/>
          </a:p>
        </p:txBody>
      </p:sp>
      <p:sp>
        <p:nvSpPr>
          <p:cNvPr id="4" name="İzle kartı"/>
          <p:cNvSpPr/>
          <p:nvPr/>
        </p:nvSpPr>
        <p:spPr>
          <a:xfrm>
            <a:off x="548640" y="2514600"/>
            <a:ext cx="3474720" cy="31089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 w="9525">
            <a:solidFill>
              <a:srgbClr val="E2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İzle numarası"/>
          <p:cNvSpPr/>
          <p:nvPr/>
        </p:nvSpPr>
        <p:spPr>
          <a:xfrm>
            <a:off x="914400" y="2880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İzle numara metni"/>
          <p:cNvSpPr txBox="1"/>
          <p:nvPr/>
        </p:nvSpPr>
        <p:spPr>
          <a:xfrm>
            <a:off x="914400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</a:t>
            </a:r>
            <a:endParaRPr lang="en-US" sz="2600" dirty="0"/>
          </a:p>
        </p:txBody>
      </p:sp>
      <p:sp>
        <p:nvSpPr>
          <p:cNvPr id="7" name="İzle başlığı"/>
          <p:cNvSpPr txBox="1"/>
          <p:nvPr/>
        </p:nvSpPr>
        <p:spPr>
          <a:xfrm>
            <a:off x="914400" y="3840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İzle</a:t>
            </a:r>
            <a:endParaRPr lang="en-US" sz="2400" dirty="0"/>
          </a:p>
        </p:txBody>
      </p:sp>
      <p:sp>
        <p:nvSpPr>
          <p:cNvPr id="8" name="İzle metni"/>
          <p:cNvSpPr txBox="1"/>
          <p:nvPr/>
        </p:nvSpPr>
        <p:spPr>
          <a:xfrm>
            <a:off x="914400" y="44348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Karttan gelen ham veriyi kayıpsız al, kaydet, yeniden oynat.</a:t>
            </a:r>
            <a:endParaRPr lang="en-US" sz="1500" dirty="0"/>
          </a:p>
        </p:txBody>
      </p:sp>
      <p:sp>
        <p:nvSpPr>
          <p:cNvPr id="9" name="Tasarla kartı"/>
          <p:cNvSpPr/>
          <p:nvPr/>
        </p:nvSpPr>
        <p:spPr>
          <a:xfrm>
            <a:off x="4297680" y="2514600"/>
            <a:ext cx="3474720" cy="31089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 w="9525">
            <a:solidFill>
              <a:srgbClr val="E2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asarla numarası"/>
          <p:cNvSpPr/>
          <p:nvPr/>
        </p:nvSpPr>
        <p:spPr>
          <a:xfrm>
            <a:off x="4663440" y="2880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asarla numara metni"/>
          <p:cNvSpPr txBox="1"/>
          <p:nvPr/>
        </p:nvSpPr>
        <p:spPr>
          <a:xfrm>
            <a:off x="4663440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2</a:t>
            </a:r>
            <a:endParaRPr lang="en-US" sz="2600" dirty="0"/>
          </a:p>
        </p:txBody>
      </p:sp>
      <p:sp>
        <p:nvSpPr>
          <p:cNvPr id="12" name="Tasarla başlığı"/>
          <p:cNvSpPr txBox="1"/>
          <p:nvPr/>
        </p:nvSpPr>
        <p:spPr>
          <a:xfrm>
            <a:off x="4663440" y="3840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Tasarla</a:t>
            </a:r>
            <a:endParaRPr lang="en-US" sz="2400" dirty="0"/>
          </a:p>
        </p:txBody>
      </p:sp>
      <p:sp>
        <p:nvSpPr>
          <p:cNvPr id="13" name="Tasarla metni"/>
          <p:cNvSpPr txBox="1"/>
          <p:nvPr/>
        </p:nvSpPr>
        <p:spPr>
          <a:xfrm>
            <a:off x="4663440" y="44348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Filtreyi, füzyon algoritmasını ya da kontrolcüyü gerçek veri üzerinde dene.</a:t>
            </a:r>
            <a:endParaRPr lang="en-US" sz="1500" dirty="0"/>
          </a:p>
        </p:txBody>
      </p:sp>
      <p:sp>
        <p:nvSpPr>
          <p:cNvPr id="14" name="Aktar kartı"/>
          <p:cNvSpPr/>
          <p:nvPr/>
        </p:nvSpPr>
        <p:spPr>
          <a:xfrm>
            <a:off x="8046720" y="2514600"/>
            <a:ext cx="3474720" cy="31089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 w="9525">
            <a:solidFill>
              <a:srgbClr val="E2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Aktar numarası"/>
          <p:cNvSpPr/>
          <p:nvPr/>
        </p:nvSpPr>
        <p:spPr>
          <a:xfrm>
            <a:off x="8412480" y="2880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Aktar numara metni"/>
          <p:cNvSpPr txBox="1"/>
          <p:nvPr/>
        </p:nvSpPr>
        <p:spPr>
          <a:xfrm>
            <a:off x="8412480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3</a:t>
            </a:r>
            <a:endParaRPr lang="en-US" sz="2600" dirty="0"/>
          </a:p>
        </p:txBody>
      </p:sp>
      <p:sp>
        <p:nvSpPr>
          <p:cNvPr id="17" name="Aktar başlığı"/>
          <p:cNvSpPr txBox="1"/>
          <p:nvPr/>
        </p:nvSpPr>
        <p:spPr>
          <a:xfrm>
            <a:off x="8412480" y="3840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Aktar</a:t>
            </a:r>
            <a:endParaRPr lang="en-US" sz="2400" dirty="0"/>
          </a:p>
        </p:txBody>
      </p:sp>
      <p:sp>
        <p:nvSpPr>
          <p:cNvPr id="18" name="Aktar metni"/>
          <p:cNvSpPr txBox="1"/>
          <p:nvPr/>
        </p:nvSpPr>
        <p:spPr>
          <a:xfrm>
            <a:off x="8412480" y="44348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Tasarımı STM32 için C kodu olarak al ve karta göm.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ım etiketi"/>
          <p:cNvSpPr/>
          <p:nvPr/>
        </p:nvSpPr>
        <p:spPr>
          <a:xfrm>
            <a:off x="548640" y="50292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Adım etiketi metni"/>
          <p:cNvSpPr txBox="1"/>
          <p:nvPr/>
        </p:nvSpPr>
        <p:spPr>
          <a:xfrm>
            <a:off x="548640" y="50292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bg1"/>
                </a:solidFill>
              </a:rPr>
              <a:t>İZLE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91440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Canlı İzleme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240280"/>
            <a:ext cx="3154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Ethernet, USB ve CAN'den çok akışlı alım</a:t>
            </a:r>
            <a:endParaRPr lang="en-US" sz="1600" dirty="0"/>
          </a:p>
          <a:p>
            <a:pPr algn="l"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Zaman ve frekans grafikleri, tepe işaretleri</a:t>
            </a:r>
            <a:endParaRPr lang="en-US" sz="1600" dirty="0"/>
          </a:p>
          <a:p>
            <a:pPr algn="l"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Kayıpsız kayıt ve yeniden oynatma</a:t>
            </a:r>
            <a:endParaRPr lang="en-US" sz="1600" dirty="0"/>
          </a:p>
        </p:txBody>
      </p:sp>
      <p:sp>
        <p:nvSpPr>
          <p:cNvPr id="6" name="Görüntü çerçevesi"/>
          <p:cNvSpPr/>
          <p:nvPr/>
        </p:nvSpPr>
        <p:spPr>
          <a:xfrm>
            <a:off x="3831336" y="684321"/>
            <a:ext cx="7927848" cy="5260759"/>
          </a:xfrm>
          <a:prstGeom prst="rect">
            <a:avLst/>
          </a:prstGeom>
          <a:solidFill>
            <a:schemeClr val="bg1"/>
          </a:solidFill>
          <a:ln w="9525">
            <a:solidFill>
              <a:srgbClr val="E2DD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Canlı İzleme ekranı" descr="Canlı İzleme ekran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739185"/>
            <a:ext cx="7818120" cy="515103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ım etiketi"/>
          <p:cNvSpPr/>
          <p:nvPr/>
        </p:nvSpPr>
        <p:spPr>
          <a:xfrm>
            <a:off x="548640" y="50292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Adım etiketi metni"/>
          <p:cNvSpPr txBox="1"/>
          <p:nvPr/>
        </p:nvSpPr>
        <p:spPr>
          <a:xfrm>
            <a:off x="548640" y="50292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bg1"/>
                </a:solidFill>
              </a:rPr>
              <a:t>TASARLA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91440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Filtre Tasarımcısı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240280"/>
            <a:ext cx="3154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IIR, FIR ve özel filtreler</a:t>
            </a:r>
            <a:endParaRPr lang="en-US" sz="1600" dirty="0"/>
          </a:p>
          <a:p>
            <a:pPr algn="l"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Genlik, faz ve kutup-sıfır anında güncellenir</a:t>
            </a:r>
            <a:endParaRPr lang="en-US" sz="1600" dirty="0"/>
          </a:p>
          <a:p>
            <a:pPr algn="l"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Tek tıkla canlı akışa uygula</a:t>
            </a:r>
            <a:endParaRPr lang="en-US" sz="1600" dirty="0"/>
          </a:p>
        </p:txBody>
      </p:sp>
      <p:sp>
        <p:nvSpPr>
          <p:cNvPr id="6" name="Görüntü çerçevesi"/>
          <p:cNvSpPr/>
          <p:nvPr/>
        </p:nvSpPr>
        <p:spPr>
          <a:xfrm>
            <a:off x="3831336" y="913255"/>
            <a:ext cx="7927848" cy="4802889"/>
          </a:xfrm>
          <a:prstGeom prst="rect">
            <a:avLst/>
          </a:prstGeom>
          <a:solidFill>
            <a:schemeClr val="bg1"/>
          </a:solidFill>
          <a:ln w="9525">
            <a:solidFill>
              <a:srgbClr val="E2DD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Filtre Tasarımcısı ekranı" descr="Filtre Tasarımcısı ekran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968119"/>
            <a:ext cx="7818120" cy="469316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ım etiketi"/>
          <p:cNvSpPr/>
          <p:nvPr/>
        </p:nvSpPr>
        <p:spPr>
          <a:xfrm>
            <a:off x="548640" y="50292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Adım etiketi metni"/>
          <p:cNvSpPr txBox="1"/>
          <p:nvPr/>
        </p:nvSpPr>
        <p:spPr>
          <a:xfrm>
            <a:off x="548640" y="50292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bg1"/>
                </a:solidFill>
              </a:rPr>
              <a:t>TASARLA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91440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Sensör Füzyonu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240280"/>
            <a:ext cx="3154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Altı algoritma aynı veri üzerinde yan yana</a:t>
            </a:r>
            <a:endParaRPr lang="en-US" sz="1600" dirty="0"/>
          </a:p>
          <a:p>
            <a:pPr algn="l"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Referansa göre hata (RMSE) karşılaştırması</a:t>
            </a:r>
            <a:endParaRPr lang="en-US" sz="1600" dirty="0"/>
          </a:p>
          <a:p>
            <a:pPr algn="l"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Seçilen algoritma C koduna dönüşür</a:t>
            </a:r>
            <a:endParaRPr lang="en-US" sz="1600" dirty="0"/>
          </a:p>
        </p:txBody>
      </p:sp>
      <p:sp>
        <p:nvSpPr>
          <p:cNvPr id="6" name="Görüntü çerçevesi"/>
          <p:cNvSpPr/>
          <p:nvPr/>
        </p:nvSpPr>
        <p:spPr>
          <a:xfrm>
            <a:off x="3831336" y="913255"/>
            <a:ext cx="7927848" cy="4802889"/>
          </a:xfrm>
          <a:prstGeom prst="rect">
            <a:avLst/>
          </a:prstGeom>
          <a:solidFill>
            <a:schemeClr val="bg1"/>
          </a:solidFill>
          <a:ln w="9525">
            <a:solidFill>
              <a:srgbClr val="E2DD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Sensör Füzyonu ekranı" descr="Sensör Füzyonu ekran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968119"/>
            <a:ext cx="7818120" cy="469316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ım etiketi"/>
          <p:cNvSpPr/>
          <p:nvPr/>
        </p:nvSpPr>
        <p:spPr>
          <a:xfrm>
            <a:off x="548640" y="50292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Adım etiketi metni"/>
          <p:cNvSpPr txBox="1"/>
          <p:nvPr/>
        </p:nvSpPr>
        <p:spPr>
          <a:xfrm>
            <a:off x="548640" y="50292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bg1"/>
                </a:solidFill>
              </a:rPr>
              <a:t>TASARLA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91440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Kontrol Tasarımı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240280"/>
            <a:ext cx="3154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PID, kompansatör, durum uzayı ve MPC</a:t>
            </a:r>
            <a:endParaRPr lang="en-US" sz="1600" dirty="0"/>
          </a:p>
          <a:p>
            <a:pPr algn="l"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Kök yer eğrisi, Bode ve adım cevabı birlikte</a:t>
            </a:r>
            <a:endParaRPr lang="en-US" sz="1600" dirty="0"/>
          </a:p>
          <a:p>
            <a:pPr algn="l"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Blok diyagram ile benzetim</a:t>
            </a:r>
            <a:endParaRPr lang="en-US" sz="1600" dirty="0"/>
          </a:p>
        </p:txBody>
      </p:sp>
      <p:sp>
        <p:nvSpPr>
          <p:cNvPr id="6" name="Görüntü çerçevesi"/>
          <p:cNvSpPr/>
          <p:nvPr/>
        </p:nvSpPr>
        <p:spPr>
          <a:xfrm>
            <a:off x="3831336" y="913255"/>
            <a:ext cx="7927848" cy="4802889"/>
          </a:xfrm>
          <a:prstGeom prst="rect">
            <a:avLst/>
          </a:prstGeom>
          <a:solidFill>
            <a:schemeClr val="bg1"/>
          </a:solidFill>
          <a:ln w="9525">
            <a:solidFill>
              <a:srgbClr val="E2DD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Kontrolcü Tasarımı ekranı" descr="Kontrolcü Tasarımı ekran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968119"/>
            <a:ext cx="7818120" cy="469316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ım etiketi"/>
          <p:cNvSpPr/>
          <p:nvPr/>
        </p:nvSpPr>
        <p:spPr>
          <a:xfrm>
            <a:off x="548640" y="50292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Adım etiketi metni"/>
          <p:cNvSpPr txBox="1"/>
          <p:nvPr/>
        </p:nvSpPr>
        <p:spPr>
          <a:xfrm>
            <a:off x="548640" y="50292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bg1"/>
                </a:solidFill>
              </a:rPr>
              <a:t>TASARLA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91440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Sinyal Üreteci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240280"/>
            <a:ext cx="3154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Standart ve özel dalga şekilleri</a:t>
            </a:r>
            <a:endParaRPr lang="en-US" sz="1600" dirty="0"/>
          </a:p>
          <a:p>
            <a:pPr algn="l"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DAC nicemleme analizi: THD, SNR, ENOB</a:t>
            </a:r>
            <a:endParaRPr lang="en-US" sz="1600" dirty="0"/>
          </a:p>
          <a:p>
            <a:pPr algn="l"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Tablo ve zamanlayıcı ayarları C kodu olarak</a:t>
            </a:r>
            <a:endParaRPr lang="en-US" sz="1600" dirty="0"/>
          </a:p>
        </p:txBody>
      </p:sp>
      <p:sp>
        <p:nvSpPr>
          <p:cNvPr id="6" name="Görüntü çerçevesi"/>
          <p:cNvSpPr/>
          <p:nvPr/>
        </p:nvSpPr>
        <p:spPr>
          <a:xfrm>
            <a:off x="3831336" y="913255"/>
            <a:ext cx="7927848" cy="4802889"/>
          </a:xfrm>
          <a:prstGeom prst="rect">
            <a:avLst/>
          </a:prstGeom>
          <a:solidFill>
            <a:schemeClr val="bg1"/>
          </a:solidFill>
          <a:ln w="9525">
            <a:solidFill>
              <a:srgbClr val="E2DD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Sinyal Üreteci ekranı" descr="Sinyal Üreteci ekran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968119"/>
            <a:ext cx="7818120" cy="469316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ım etiketi"/>
          <p:cNvSpPr/>
          <p:nvPr/>
        </p:nvSpPr>
        <p:spPr>
          <a:xfrm>
            <a:off x="548640" y="50292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Adım etiketi metni"/>
          <p:cNvSpPr txBox="1"/>
          <p:nvPr/>
        </p:nvSpPr>
        <p:spPr>
          <a:xfrm>
            <a:off x="548640" y="50292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bg1"/>
                </a:solidFill>
              </a:rPr>
              <a:t>AKTAR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Tasarımdan karta</a:t>
            </a:r>
            <a:endParaRPr lang="en-US" sz="3200" dirty="0"/>
          </a:p>
        </p:txBody>
      </p:sp>
      <p:sp>
        <p:nvSpPr>
          <p:cNvPr id="5" name="Giriş metni"/>
          <p:cNvSpPr txBox="1"/>
          <p:nvPr/>
        </p:nvSpPr>
        <p:spPr>
          <a:xfrm>
            <a:off x="548640" y="1600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Filtre, füzyon, kontrolcü ve MPC için STM32 C kodu üretilir. Kartın veri göndermesi için hazır C kütüphanesi gelir.</a:t>
            </a:r>
            <a:endParaRPr lang="en-US" sz="1600" dirty="0"/>
          </a:p>
        </p:txBody>
      </p:sp>
      <p:sp>
        <p:nvSpPr>
          <p:cNvPr id="6" name="Ölçü kartı 1"/>
          <p:cNvSpPr/>
          <p:nvPr/>
        </p:nvSpPr>
        <p:spPr>
          <a:xfrm>
            <a:off x="548640" y="260604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E2DDD6"/>
            </a:solidFill>
            <a:prstDash val="solid"/>
          </a:ln>
        </p:spPr>
      </p:sp>
      <p:sp>
        <p:nvSpPr>
          <p:cNvPr id="7" name="Ölçü 1"/>
          <p:cNvSpPr txBox="1"/>
          <p:nvPr/>
        </p:nvSpPr>
        <p:spPr>
          <a:xfrm>
            <a:off x="822960" y="2880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4000" dirty="0"/>
          </a:p>
        </p:txBody>
      </p:sp>
      <p:sp>
        <p:nvSpPr>
          <p:cNvPr id="8" name="Ölçü birimi 1"/>
          <p:cNvSpPr txBox="1"/>
          <p:nvPr/>
        </p:nvSpPr>
        <p:spPr>
          <a:xfrm>
            <a:off x="822960" y="3794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bağlantı türü</a:t>
            </a:r>
            <a:endParaRPr lang="en-US" sz="1800" dirty="0"/>
          </a:p>
        </p:txBody>
      </p:sp>
      <p:sp>
        <p:nvSpPr>
          <p:cNvPr id="9" name="Ölçü açıklaması 1"/>
          <p:cNvSpPr txBox="1"/>
          <p:nvPr/>
        </p:nvSpPr>
        <p:spPr>
          <a:xfrm>
            <a:off x="822960" y="42519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Ethernet (UDP), USB, CAN</a:t>
            </a:r>
            <a:endParaRPr lang="en-US" sz="1300" dirty="0"/>
          </a:p>
        </p:txBody>
      </p:sp>
      <p:sp>
        <p:nvSpPr>
          <p:cNvPr id="10" name="Ölçü kartı 2"/>
          <p:cNvSpPr/>
          <p:nvPr/>
        </p:nvSpPr>
        <p:spPr>
          <a:xfrm>
            <a:off x="3364992" y="260604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E2DDD6"/>
            </a:solidFill>
            <a:prstDash val="solid"/>
          </a:ln>
        </p:spPr>
      </p:sp>
      <p:sp>
        <p:nvSpPr>
          <p:cNvPr id="11" name="Ölçü 2"/>
          <p:cNvSpPr txBox="1"/>
          <p:nvPr/>
        </p:nvSpPr>
        <p:spPr>
          <a:xfrm>
            <a:off x="3639312" y="2880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4,4 KB</a:t>
            </a:r>
            <a:endParaRPr lang="en-US" sz="4000" dirty="0"/>
          </a:p>
        </p:txBody>
      </p:sp>
      <p:sp>
        <p:nvSpPr>
          <p:cNvPr id="12" name="Ölçü birimi 2"/>
          <p:cNvSpPr txBox="1"/>
          <p:nvPr/>
        </p:nvSpPr>
        <p:spPr>
          <a:xfrm>
            <a:off x="3639312" y="3794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flash</a:t>
            </a:r>
            <a:endParaRPr lang="en-US" sz="1800" dirty="0"/>
          </a:p>
        </p:txBody>
      </p:sp>
      <p:sp>
        <p:nvSpPr>
          <p:cNvPr id="13" name="Ölçü açıklaması 2"/>
          <p:cNvSpPr txBox="1"/>
          <p:nvPr/>
        </p:nvSpPr>
        <p:spPr>
          <a:xfrm>
            <a:off x="3639312" y="42519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Cortex-M4'te kütüphane boyutu</a:t>
            </a:r>
            <a:endParaRPr lang="en-US" sz="1300" dirty="0"/>
          </a:p>
        </p:txBody>
      </p:sp>
      <p:sp>
        <p:nvSpPr>
          <p:cNvPr id="14" name="Ölçü kartı 3"/>
          <p:cNvSpPr/>
          <p:nvPr/>
        </p:nvSpPr>
        <p:spPr>
          <a:xfrm>
            <a:off x="6181344" y="260604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E2DDD6"/>
            </a:solidFill>
            <a:prstDash val="solid"/>
          </a:ln>
        </p:spPr>
      </p:sp>
      <p:sp>
        <p:nvSpPr>
          <p:cNvPr id="15" name="Ölçü 3"/>
          <p:cNvSpPr txBox="1"/>
          <p:nvPr/>
        </p:nvSpPr>
        <p:spPr>
          <a:xfrm>
            <a:off x="6455664" y="2880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1,6 KB</a:t>
            </a:r>
            <a:endParaRPr lang="en-US" sz="4000" dirty="0"/>
          </a:p>
        </p:txBody>
      </p:sp>
      <p:sp>
        <p:nvSpPr>
          <p:cNvPr id="16" name="Ölçü birimi 3"/>
          <p:cNvSpPr txBox="1"/>
          <p:nvPr/>
        </p:nvSpPr>
        <p:spPr>
          <a:xfrm>
            <a:off x="6455664" y="3794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RAM</a:t>
            </a:r>
            <a:endParaRPr lang="en-US" sz="1800" dirty="0"/>
          </a:p>
        </p:txBody>
      </p:sp>
      <p:sp>
        <p:nvSpPr>
          <p:cNvPr id="17" name="Ölçü açıklaması 3"/>
          <p:cNvSpPr txBox="1"/>
          <p:nvPr/>
        </p:nvSpPr>
        <p:spPr>
          <a:xfrm>
            <a:off x="6455664" y="42519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akış başına, dinamik bellek yok</a:t>
            </a:r>
            <a:endParaRPr lang="en-US" sz="1300" dirty="0"/>
          </a:p>
        </p:txBody>
      </p:sp>
      <p:sp>
        <p:nvSpPr>
          <p:cNvPr id="18" name="Ölçü kartı 4"/>
          <p:cNvSpPr/>
          <p:nvPr/>
        </p:nvSpPr>
        <p:spPr>
          <a:xfrm>
            <a:off x="8997696" y="260604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E2DDD6"/>
            </a:solidFill>
            <a:prstDash val="solid"/>
          </a:ln>
        </p:spPr>
      </p:sp>
      <p:sp>
        <p:nvSpPr>
          <p:cNvPr id="19" name="Ölçü 4"/>
          <p:cNvSpPr txBox="1"/>
          <p:nvPr/>
        </p:nvSpPr>
        <p:spPr>
          <a:xfrm>
            <a:off x="9272016" y="2880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MISRA</a:t>
            </a:r>
            <a:endParaRPr lang="en-US" sz="4000" dirty="0"/>
          </a:p>
        </p:txBody>
      </p:sp>
      <p:sp>
        <p:nvSpPr>
          <p:cNvPr id="20" name="Ölçü birimi 4"/>
          <p:cNvSpPr txBox="1"/>
          <p:nvPr/>
        </p:nvSpPr>
        <p:spPr>
          <a:xfrm>
            <a:off x="9272016" y="3794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C:2012</a:t>
            </a:r>
            <a:endParaRPr lang="en-US" sz="1800" dirty="0"/>
          </a:p>
        </p:txBody>
      </p:sp>
      <p:sp>
        <p:nvSpPr>
          <p:cNvPr id="21" name="Ölçü açıklaması 4"/>
          <p:cNvSpPr txBox="1"/>
          <p:nvPr/>
        </p:nvSpPr>
        <p:spPr>
          <a:xfrm>
            <a:off x="9272016" y="42519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C99, lwIP raw API</a:t>
            </a:r>
            <a:endParaRPr lang="en-US" sz="1300" dirty="0"/>
          </a:p>
        </p:txBody>
      </p:sp>
      <p:sp>
        <p:nvSpPr>
          <p:cNvPr id="22" name="Çekirdekler"/>
          <p:cNvSpPr txBox="1"/>
          <p:nvPr/>
        </p:nvSpPr>
        <p:spPr>
          <a:xfrm>
            <a:off x="548640" y="5669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Desteklenen çekirdekler: Cortex-M0+ · M3 · M4F · M7 · M33F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Uygulama logos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777240"/>
            <a:ext cx="868680" cy="868680"/>
          </a:xfrm>
          <a:prstGeom prst="rect">
            <a:avLst/>
          </a:prstGeom>
        </p:spPr>
      </p:pic>
      <p:sp>
        <p:nvSpPr>
          <p:cNvPr id="3" name="Kapanış sloganı"/>
          <p:cNvSpPr txBox="1"/>
          <p:nvPr/>
        </p:nvSpPr>
        <p:spPr>
          <a:xfrm>
            <a:off x="68580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İzle. </a:t>
            </a:r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Tasarla. </a:t>
            </a:r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Aktar.</a:t>
            </a:r>
            <a:endParaRPr lang="en-US" sz="5400" dirty="0"/>
          </a:p>
        </p:txBody>
      </p:sp>
      <p:sp>
        <p:nvSpPr>
          <p:cNvPr id="4" name="Ürün adı"/>
          <p:cNvSpPr txBox="1"/>
          <p:nvPr/>
        </p:nvSpPr>
        <p:spPr>
          <a:xfrm>
            <a:off x="685800" y="3703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4CE"/>
                </a:solidFill>
              </a:rPr>
              <a:t>Signal Processing Toolbox · Sinyal İşleme Stüdyosu</a:t>
            </a:r>
            <a:endParaRPr lang="en-US" sz="2000" dirty="0"/>
          </a:p>
        </p:txBody>
      </p:sp>
      <p:sp>
        <p:nvSpPr>
          <p:cNvPr id="5" name="Proje bağlantısı">
            <a:hlinkClick r:id="rId2" tooltip=""/>
          </p:cNvPr>
          <p:cNvSpPr txBox="1"/>
          <p:nvPr/>
        </p:nvSpPr>
        <p:spPr>
          <a:xfrm>
            <a:off x="68580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A8A099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github.com/LoopOverlord1453/signal-processing-studio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gnal Processing Toolbox">
  <a:themeElements>
    <a:clrScheme name="Signal Processing Toolbox">
      <a:dk1>
        <a:srgbClr val="1C1B1A"/>
      </a:dk1>
      <a:lt1>
        <a:srgbClr val="FFFFFF"/>
      </a:lt1>
      <a:dk2>
        <a:srgbClr val="57514B"/>
      </a:dk2>
      <a:lt2>
        <a:srgbClr val="F4F2EF"/>
      </a:lt2>
      <a:accent1>
        <a:srgbClr val="E2731B"/>
      </a:accent1>
      <a:accent2>
        <a:srgbClr val="005FB8"/>
      </a:accent2>
      <a:accent3>
        <a:srgbClr val="A14B06"/>
      </a:accent3>
      <a:accent4>
        <a:srgbClr val="0A7F0A"/>
      </a:accent4>
      <a:accent5>
        <a:srgbClr val="986300"/>
      </a:accent5>
      <a:accent6>
        <a:srgbClr val="C43333"/>
      </a:accent6>
      <a:hlink>
        <a:srgbClr val="005FB8"/>
      </a:hlink>
      <a:folHlink>
        <a:srgbClr val="6B4FA0"/>
      </a:folHlink>
    </a:clrScheme>
    <a:fontScheme name="Signal Processing Toolbox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 Processing Toolbox — Ürün Tanıtımı</dc:title>
  <dc:subject>Sinyal İşleme Stüdyosu</dc:subject>
  <dc:creator>Kubilay Közleme</dc:creator>
  <cp:lastModifiedBy>Kubilay Közleme</cp:lastModifiedBy>
  <cp:revision>1</cp:revision>
  <dcterms:created xsi:type="dcterms:W3CDTF">2026-10-13T19:31:01Z</dcterms:created>
  <dcterms:modified xsi:type="dcterms:W3CDTF">2026-10-13T19:31:01Z</dcterms:modified>
</cp:coreProperties>
</file>